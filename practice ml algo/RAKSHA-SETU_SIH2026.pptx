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7.png"/><Relationship Id="rId11" Type="http://schemas.openxmlformats.org/officeDocument/2006/relationships/image" Target="../media/image-4-1.png"/><Relationship Id="rId12" Type="http://schemas.openxmlformats.org/officeDocument/2006/relationships/image" Target="../media/image-4-12.png"/><Relationship Id="rId13" Type="http://schemas.openxmlformats.org/officeDocument/2006/relationships/image" Target="../media/image-4-4.png"/><Relationship Id="rId14" Type="http://schemas.openxmlformats.org/officeDocument/2006/relationships/image" Target="../media/image-4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5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 -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25184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6771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 -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closed group communication platform over existing public mobile communication networks for defence personnel and families.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363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 -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667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 -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970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 -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72808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274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 -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778240" y="2377440"/>
            <a:ext cx="1554480" cy="1554480"/>
          </a:xfrm>
          <a:prstGeom prst="roundRect">
            <a:avLst>
              <a:gd name="adj" fmla="val 50000"/>
            </a:avLst>
          </a:prstGeom>
          <a:solidFill>
            <a:srgbClr val="E8752C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11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26" y="2719426"/>
            <a:ext cx="870509" cy="87050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06840" y="411480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1B3A6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00684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SIH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RAKSHA-SETU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D7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070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COMMUNICATION ECOSYSTEM FOR THE MODERN MILITARY COMMUNITY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93392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personnel using commercial apps risk data leaks and espionage.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Foreign-hosted platforms expose sensitive defence communication.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sovereign, secure app exists for defence-exclusive communication.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apps lack strict access control and data leak prevention.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221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HQ-Verified Closed Groups —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verified serving personnel, veterans, and registered families can access.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068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VPN Encapsulation —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communication routed through a defence-controlled VPN gateway.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914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 —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Messages, calls, and media remain fully encrypted.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2760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 Prevention (DLP) —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screenshots, screen recording, copy-paste, and forwarding.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0" cy="4572000"/>
          </a:xfrm>
          <a:prstGeom prst="line">
            <a:avLst/>
          </a:prstGeom>
          <a:noFill/>
          <a:ln w="12700">
            <a:solidFill>
              <a:srgbClr val="C9D8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DIAGRAM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2461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18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4282" y="3356762"/>
            <a:ext cx="281635" cy="281635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126480" y="384048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4A2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126480" y="38404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-ANCE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7178040" y="18288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4A2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780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452360" y="22860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4A2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2286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ADMIN DASHBOARD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2651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Management</a:t>
            </a:r>
            <a:endParaRPr lang="en-US" sz="8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8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Monitoring &amp; Auditing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178040" y="338328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4A24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1780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Servers</a:t>
            </a:r>
            <a:endParaRPr lang="en-US" sz="8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Servers</a:t>
            </a:r>
            <a:endParaRPr lang="en-US" sz="8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Gateway</a:t>
            </a:r>
            <a:endParaRPr lang="en-US" sz="8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Servers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178040" y="48006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4A24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17804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END-USER APPLICATION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452360" y="52578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4A24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452360" y="5257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RAKSHA-SETU MOBILE CLIENT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5623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Personnel</a:t>
            </a:r>
            <a:endParaRPr lang="en-US" sz="8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</a:t>
            </a:r>
            <a:endParaRPr lang="en-US" sz="8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Family Members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519672" y="3474720"/>
            <a:ext cx="658368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19672" y="2011680"/>
            <a:ext cx="0" cy="146304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19672" y="2011680"/>
            <a:ext cx="658368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19672" y="4983480"/>
            <a:ext cx="0" cy="32004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19672" y="4983480"/>
            <a:ext cx="658368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RAKSHA-SETU  |  SIH 2026  |  Team INNOVISION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D7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21208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4767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defence-specific needs, security requirements, and user scenarios.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521208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414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Design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7889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secure architecture with VPN, E2EE, and sovereign hosting.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521208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82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Setup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301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on-premise servers, VPN gateways, and databases in India.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521208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1239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Development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7141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APIs, user authentication, and HQ admin dashboard.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965192"/>
            <a:ext cx="521208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965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Development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31266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Android/iOS apps with onboarding, messaging, group features.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97880" y="1280160"/>
            <a:ext cx="0" cy="5120640"/>
          </a:xfrm>
          <a:prstGeom prst="line">
            <a:avLst/>
          </a:prstGeom>
          <a:noFill/>
          <a:ln w="12700">
            <a:solidFill>
              <a:srgbClr val="C9D8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CHART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35140" y="1627632"/>
            <a:ext cx="914400" cy="3200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35140" y="1627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2340" y="1947672"/>
            <a:ext cx="0" cy="9144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039112"/>
            <a:ext cx="2331720" cy="411480"/>
          </a:xfrm>
          <a:prstGeom prst="roundRect">
            <a:avLst>
              <a:gd name="adj" fmla="val 13333"/>
            </a:avLst>
          </a:prstGeom>
          <a:solidFill>
            <a:srgbClr val="F4A2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99632" y="2039112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Service/PPO Number &amp; details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2523744"/>
            <a:ext cx="2331720" cy="411480"/>
          </a:xfrm>
          <a:prstGeom prst="roundRect">
            <a:avLst>
              <a:gd name="adj" fmla="val 13333"/>
            </a:avLst>
          </a:prstGeom>
          <a:solidFill>
            <a:srgbClr val="F4A2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9632" y="2523744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sends details to Backend Server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3008376"/>
            <a:ext cx="2331720" cy="411480"/>
          </a:xfrm>
          <a:prstGeom prst="roundRect">
            <a:avLst>
              <a:gd name="adj" fmla="val 13333"/>
            </a:avLst>
          </a:prstGeom>
          <a:solidFill>
            <a:srgbClr val="F4A2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99632" y="3008376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Admin verifies details against records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06540" y="3511296"/>
            <a:ext cx="1371600" cy="502920"/>
          </a:xfrm>
          <a:prstGeom prst="diamond">
            <a:avLst/>
          </a:prstGeom>
          <a:solidFill>
            <a:srgbClr val="F4A2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06540" y="35112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User Authentic?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126480" y="40599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↓        NO → Account Rejected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26480" y="4288536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4A2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99632" y="428853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approves &amp; adds User to closed groups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4818888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4A2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99632" y="48188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receives OTP, logs in, completes profile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80860" y="5367528"/>
            <a:ext cx="822960" cy="30175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80860" y="536752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778240" y="1280160"/>
            <a:ext cx="0" cy="5120640"/>
          </a:xfrm>
          <a:prstGeom prst="line">
            <a:avLst/>
          </a:prstGeom>
          <a:noFill/>
          <a:ln w="12700">
            <a:solidFill>
              <a:srgbClr val="C9D8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068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006840" y="1645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06840" y="1645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06840" y="21214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06840" y="2121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06840" y="2596896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06840" y="25968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006840" y="30723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06840" y="30723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06840" y="3547872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006840" y="35478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006840" y="40233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06840" y="4023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Protocol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006840" y="449884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06840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006840" y="4974336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006840" y="49743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006840" y="544982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9D8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06840" y="5449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RAKSHA-SETU  |  SIH 2026  |  Team INNOVISION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&amp; VIABILITY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of the Feasibility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D7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13258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752C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8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078" y="1438534"/>
            <a:ext cx="286756" cy="2867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1947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313432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encryption (Signal Protocol), VPN encapsulation (WireGuard), and secure on-premise infrastructure using mature frameworks.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008376" y="13258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752C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12" name="Image 1" descr="/home/claude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030" y="1438534"/>
            <a:ext cx="286756" cy="2867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359152" y="1947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ECONOMICAL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359152" y="2313432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initial setup cost, but long-term costs are manageable through controlled scaling and microservices.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910328" y="13258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752C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16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982" y="143853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61104" y="1947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261104" y="2313432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trust among defence personnel, veterans, and families by ensuring safe communication and morale.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812280" y="13258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752C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20" name="Image 3" descr="/home/claude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934" y="1438534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63056" y="1947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6163056" y="2313432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hosted within India, ensuring compliance with data sovereignty and CERT-In frameworks.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8714232" y="13258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752C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24" name="Image 4" descr="/home/claude/icons/smart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886" y="1438534"/>
            <a:ext cx="286756" cy="2867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65008" y="1947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8065008" y="2313432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app with guided onboarding; centralized HQ-admin controls simplify management.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10616184" y="13258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752C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28" name="Image 5" descr="/home/claude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8838" y="1438534"/>
            <a:ext cx="286756" cy="2867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966960" y="1947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9966960" y="2313432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penetration testing, DevSecOps pipeline, and strict DLP against cyberattacks and insider threats.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457200" y="3291840"/>
            <a:ext cx="11247120" cy="0"/>
          </a:xfrm>
          <a:prstGeom prst="line">
            <a:avLst/>
          </a:prstGeom>
          <a:noFill/>
          <a:ln w="12700">
            <a:solidFill>
              <a:srgbClr val="C9D8E6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57200" y="3429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RISKS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309360" y="3429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035040" y="3429000"/>
            <a:ext cx="0" cy="2926080"/>
          </a:xfrm>
          <a:prstGeom prst="line">
            <a:avLst/>
          </a:prstGeom>
          <a:noFill/>
          <a:ln w="12700">
            <a:solidFill>
              <a:srgbClr val="C9D8E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57200" y="3794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36" name="Image 6" descr="/home/claude/icons/ale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67" y="3875227"/>
            <a:ext cx="204826" cy="20482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14400" y="3776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Vulnerabilities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914400" y="40507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cyberattacks from state-sponsored actors targeting servers, VPN, or the app.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3246120" y="3794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40" name="Image 7" descr="/home/claude/icons/trend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6587" y="3875227"/>
            <a:ext cx="204826" cy="20482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703320" y="3776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Scalability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3703320" y="40507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smooth operation under high load in low-bandwidth or remote areas.</a:t>
            </a:r>
            <a:endParaRPr lang="en-US" sz="850" dirty="0"/>
          </a:p>
        </p:txBody>
      </p:sp>
      <p:sp>
        <p:nvSpPr>
          <p:cNvPr id="43" name="Shape 33"/>
          <p:cNvSpPr/>
          <p:nvPr/>
        </p:nvSpPr>
        <p:spPr>
          <a:xfrm>
            <a:off x="457200" y="5029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44" name="Image 8" descr="/home/claude/icons/user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67" y="5109667"/>
            <a:ext cx="204826" cy="204826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14400" y="5010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Adoption &amp; Training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914400" y="5285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 and families may resist shifting from familiar apps to a new platform.</a:t>
            </a:r>
            <a:endParaRPr lang="en-US" sz="850" dirty="0"/>
          </a:p>
        </p:txBody>
      </p:sp>
      <p:sp>
        <p:nvSpPr>
          <p:cNvPr id="47" name="Shape 36"/>
          <p:cNvSpPr/>
          <p:nvPr/>
        </p:nvSpPr>
        <p:spPr>
          <a:xfrm>
            <a:off x="3246120" y="5029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48" name="Image 9" descr="/home/claude/icons/aler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6587" y="5109667"/>
            <a:ext cx="204826" cy="20482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3703320" y="5010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Threats</a:t>
            </a:r>
            <a:endParaRPr lang="en-US" sz="1000" dirty="0"/>
          </a:p>
        </p:txBody>
      </p:sp>
      <p:sp>
        <p:nvSpPr>
          <p:cNvPr id="50" name="Text 38"/>
          <p:cNvSpPr txBox="1"/>
          <p:nvPr/>
        </p:nvSpPr>
        <p:spPr>
          <a:xfrm>
            <a:off x="3703320" y="5285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actions from authorized users with legitimate access.</a:t>
            </a:r>
            <a:endParaRPr lang="en-US" sz="850" dirty="0"/>
          </a:p>
        </p:txBody>
      </p:sp>
      <p:sp>
        <p:nvSpPr>
          <p:cNvPr id="51" name="Shape 39"/>
          <p:cNvSpPr/>
          <p:nvPr/>
        </p:nvSpPr>
        <p:spPr>
          <a:xfrm>
            <a:off x="6309360" y="3794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52" name="Image 10" descr="/home/claude/icons/shie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9827" y="3875227"/>
            <a:ext cx="204826" cy="204826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6766560" y="3776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Hardening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6766560" y="40507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penetration testing, DevSecOps pipeline, MFA integration, third-party audits.</a:t>
            </a:r>
            <a:endParaRPr lang="en-US" sz="850" dirty="0"/>
          </a:p>
        </p:txBody>
      </p:sp>
      <p:sp>
        <p:nvSpPr>
          <p:cNvPr id="55" name="Shape 42"/>
          <p:cNvSpPr/>
          <p:nvPr/>
        </p:nvSpPr>
        <p:spPr>
          <a:xfrm>
            <a:off x="9098280" y="3794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56" name="Image 11" descr="/home/claude/icons/setting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8747" y="3875227"/>
            <a:ext cx="204826" cy="204826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9555480" y="3776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Architecture</a:t>
            </a:r>
            <a:endParaRPr lang="en-US" sz="1000" dirty="0"/>
          </a:p>
        </p:txBody>
      </p:sp>
      <p:sp>
        <p:nvSpPr>
          <p:cNvPr id="58" name="Text 44"/>
          <p:cNvSpPr txBox="1"/>
          <p:nvPr/>
        </p:nvSpPr>
        <p:spPr>
          <a:xfrm>
            <a:off x="9555480" y="40507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design, load balancing, efficient VPN protocols, offline-first features.</a:t>
            </a:r>
            <a:endParaRPr lang="en-US" sz="850" dirty="0"/>
          </a:p>
        </p:txBody>
      </p:sp>
      <p:sp>
        <p:nvSpPr>
          <p:cNvPr id="59" name="Shape 45"/>
          <p:cNvSpPr/>
          <p:nvPr/>
        </p:nvSpPr>
        <p:spPr>
          <a:xfrm>
            <a:off x="6309360" y="5029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60" name="Image 12" descr="/home/claude/icons/boo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9827" y="5109667"/>
            <a:ext cx="204826" cy="204826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6766560" y="5010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Training</a:t>
            </a:r>
            <a:endParaRPr lang="en-US" sz="1000" dirty="0"/>
          </a:p>
        </p:txBody>
      </p:sp>
      <p:sp>
        <p:nvSpPr>
          <p:cNvPr id="62" name="Text 47"/>
          <p:cNvSpPr txBox="1"/>
          <p:nvPr/>
        </p:nvSpPr>
        <p:spPr>
          <a:xfrm>
            <a:off x="6766560" y="5285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UI/UX, training modules, and campaigns on risks of commercial apps.</a:t>
            </a:r>
            <a:endParaRPr lang="en-US" sz="850" dirty="0"/>
          </a:p>
        </p:txBody>
      </p:sp>
      <p:sp>
        <p:nvSpPr>
          <p:cNvPr id="63" name="Shape 48"/>
          <p:cNvSpPr/>
          <p:nvPr/>
        </p:nvSpPr>
        <p:spPr>
          <a:xfrm>
            <a:off x="9098280" y="5029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64" name="Image 13" descr="/home/claude/icons/lo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78747" y="5109667"/>
            <a:ext cx="204826" cy="204826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9555480" y="5010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&amp; Monitoring</a:t>
            </a:r>
            <a:endParaRPr lang="en-US" sz="1000" dirty="0"/>
          </a:p>
        </p:txBody>
      </p:sp>
      <p:sp>
        <p:nvSpPr>
          <p:cNvPr id="66" name="Text 50"/>
          <p:cNvSpPr txBox="1"/>
          <p:nvPr/>
        </p:nvSpPr>
        <p:spPr>
          <a:xfrm>
            <a:off x="9555480" y="5285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principle, immutable audit logs, real-time anomaly detection.</a:t>
            </a:r>
            <a:endParaRPr lang="en-US" sz="850" dirty="0"/>
          </a:p>
        </p:txBody>
      </p:sp>
      <p:sp>
        <p:nvSpPr>
          <p:cNvPr id="67" name="Text 5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RAKSHA-SETU  |  SIH 2026  |  Team INNOVISION</a:t>
            </a:r>
            <a:endParaRPr lang="en-US" sz="800" dirty="0"/>
          </a:p>
        </p:txBody>
      </p:sp>
      <p:sp>
        <p:nvSpPr>
          <p:cNvPr id="68" name="Text 52"/>
          <p:cNvSpPr txBox="1"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D7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FEATURES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78892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627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VPN Encapsulation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751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traffic passes through a defence-controlled VPN.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278892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963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HQ-Centric Trust Model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437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and groups verified and managed only by Defence HQ.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278892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64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Information Containment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124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leaves the secure ecosystem.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233672"/>
            <a:ext cx="278892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2336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Community Exclusivity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811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only to personnel, veterans, and families.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5102352"/>
            <a:ext cx="2788920" cy="292608"/>
          </a:xfrm>
          <a:prstGeom prst="roundRect">
            <a:avLst>
              <a:gd name="adj" fmla="val 18750"/>
            </a:avLst>
          </a:prstGeom>
          <a:solidFill>
            <a:srgbClr val="E875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102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 Guarantee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4498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infrastructure hosted within India under Govt. authority.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520440" y="1280160"/>
            <a:ext cx="0" cy="5120640"/>
          </a:xfrm>
          <a:prstGeom prst="line">
            <a:avLst/>
          </a:prstGeom>
          <a:noFill/>
          <a:ln w="12700">
            <a:solidFill>
              <a:srgbClr val="C9D8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49040" y="1280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0" y="162763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26" name="Shape 24"/>
          <p:cNvSpPr/>
          <p:nvPr/>
        </p:nvSpPr>
        <p:spPr>
          <a:xfrm>
            <a:off x="4288536" y="17373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27" name="Image 0" descr="/home/claude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097" y="1833921"/>
            <a:ext cx="245791" cy="245791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3803904" y="21945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National Security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3803904" y="254203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a major vulnerability exploited by hostile intelligence.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5321808" y="162763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31" name="Shape 28"/>
          <p:cNvSpPr/>
          <p:nvPr/>
        </p:nvSpPr>
        <p:spPr>
          <a:xfrm>
            <a:off x="5861304" y="17373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32" name="Image 1" descr="/home/claude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865" y="1833921"/>
            <a:ext cx="245791" cy="245791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76672" y="21945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OPSEC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5376672" y="254203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accidental leakage of troop movements and routines.</a:t>
            </a:r>
            <a:endParaRPr lang="en-US" sz="680" dirty="0"/>
          </a:p>
        </p:txBody>
      </p:sp>
      <p:sp>
        <p:nvSpPr>
          <p:cNvPr id="35" name="Shape 31"/>
          <p:cNvSpPr/>
          <p:nvPr/>
        </p:nvSpPr>
        <p:spPr>
          <a:xfrm>
            <a:off x="6894576" y="162763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36" name="Shape 32"/>
          <p:cNvSpPr/>
          <p:nvPr/>
        </p:nvSpPr>
        <p:spPr>
          <a:xfrm>
            <a:off x="7434072" y="17373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37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633" y="1833921"/>
            <a:ext cx="245791" cy="245791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949440" y="21945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Protection</a:t>
            </a:r>
            <a:endParaRPr lang="en-US" sz="800" dirty="0"/>
          </a:p>
        </p:txBody>
      </p:sp>
      <p:sp>
        <p:nvSpPr>
          <p:cNvPr id="39" name="Text 34"/>
          <p:cNvSpPr txBox="1"/>
          <p:nvPr/>
        </p:nvSpPr>
        <p:spPr>
          <a:xfrm>
            <a:off x="6949440" y="254203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Shields families from being targeted for sensitive information.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8467344" y="162763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41" name="Shape 36"/>
          <p:cNvSpPr/>
          <p:nvPr/>
        </p:nvSpPr>
        <p:spPr>
          <a:xfrm>
            <a:off x="9006840" y="17373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42" name="Image 3" descr="/home/claude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401" y="1833921"/>
            <a:ext cx="245791" cy="245791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8522208" y="21945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800" dirty="0"/>
          </a:p>
        </p:txBody>
      </p:sp>
      <p:sp>
        <p:nvSpPr>
          <p:cNvPr id="44" name="Text 38"/>
          <p:cNvSpPr txBox="1"/>
          <p:nvPr/>
        </p:nvSpPr>
        <p:spPr>
          <a:xfrm>
            <a:off x="8522208" y="254203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reliance on foreign platforms.</a:t>
            </a:r>
            <a:endParaRPr lang="en-US" sz="680" dirty="0"/>
          </a:p>
        </p:txBody>
      </p:sp>
      <p:sp>
        <p:nvSpPr>
          <p:cNvPr id="45" name="Shape 39"/>
          <p:cNvSpPr/>
          <p:nvPr/>
        </p:nvSpPr>
        <p:spPr>
          <a:xfrm>
            <a:off x="10040112" y="162763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46" name="Shape 40"/>
          <p:cNvSpPr/>
          <p:nvPr/>
        </p:nvSpPr>
        <p:spPr>
          <a:xfrm>
            <a:off x="10579608" y="17373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47" name="Image 4" descr="/home/claude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6169" y="1833921"/>
            <a:ext cx="245791" cy="245791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0094976" y="21945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Communication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10094976" y="254203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backbone for personal and operational comms.</a:t>
            </a:r>
            <a:endParaRPr lang="en-US" sz="680" dirty="0"/>
          </a:p>
        </p:txBody>
      </p:sp>
      <p:sp>
        <p:nvSpPr>
          <p:cNvPr id="50" name="Text 43"/>
          <p:cNvSpPr txBox="1"/>
          <p:nvPr/>
        </p:nvSpPr>
        <p:spPr>
          <a:xfrm>
            <a:off x="3749040" y="3246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300" dirty="0"/>
          </a:p>
        </p:txBody>
      </p:sp>
      <p:sp>
        <p:nvSpPr>
          <p:cNvPr id="51" name="Shape 44"/>
          <p:cNvSpPr/>
          <p:nvPr/>
        </p:nvSpPr>
        <p:spPr>
          <a:xfrm>
            <a:off x="3749040" y="359359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52" name="Shape 45"/>
          <p:cNvSpPr/>
          <p:nvPr/>
        </p:nvSpPr>
        <p:spPr>
          <a:xfrm>
            <a:off x="4288536" y="37033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53" name="Image 5" descr="/home/claud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097" y="3799881"/>
            <a:ext cx="245791" cy="245791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3803904" y="4160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Ecosystem</a:t>
            </a:r>
            <a:endParaRPr lang="en-US" sz="800" dirty="0"/>
          </a:p>
        </p:txBody>
      </p:sp>
      <p:sp>
        <p:nvSpPr>
          <p:cNvPr id="55" name="Text 47"/>
          <p:cNvSpPr txBox="1"/>
          <p:nvPr/>
        </p:nvSpPr>
        <p:spPr>
          <a:xfrm>
            <a:off x="3803904" y="450799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digital environment exclusively for defence community.</a:t>
            </a:r>
            <a:endParaRPr lang="en-US" sz="680" dirty="0"/>
          </a:p>
        </p:txBody>
      </p:sp>
      <p:sp>
        <p:nvSpPr>
          <p:cNvPr id="56" name="Shape 48"/>
          <p:cNvSpPr/>
          <p:nvPr/>
        </p:nvSpPr>
        <p:spPr>
          <a:xfrm>
            <a:off x="5321808" y="359359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57" name="Shape 49"/>
          <p:cNvSpPr/>
          <p:nvPr/>
        </p:nvSpPr>
        <p:spPr>
          <a:xfrm>
            <a:off x="5861304" y="37033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58" name="Image 6" descr="/home/claude/icons/trend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865" y="3799881"/>
            <a:ext cx="245791" cy="245791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5376672" y="4160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Morale</a:t>
            </a:r>
            <a:endParaRPr lang="en-US" sz="800" dirty="0"/>
          </a:p>
        </p:txBody>
      </p:sp>
      <p:sp>
        <p:nvSpPr>
          <p:cNvPr id="60" name="Text 51"/>
          <p:cNvSpPr txBox="1"/>
          <p:nvPr/>
        </p:nvSpPr>
        <p:spPr>
          <a:xfrm>
            <a:off x="5376672" y="450799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Boosts confidence knowing communication is secure.</a:t>
            </a:r>
            <a:endParaRPr lang="en-US" sz="680" dirty="0"/>
          </a:p>
        </p:txBody>
      </p:sp>
      <p:sp>
        <p:nvSpPr>
          <p:cNvPr id="61" name="Shape 52"/>
          <p:cNvSpPr/>
          <p:nvPr/>
        </p:nvSpPr>
        <p:spPr>
          <a:xfrm>
            <a:off x="6894576" y="359359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62" name="Shape 53"/>
          <p:cNvSpPr/>
          <p:nvPr/>
        </p:nvSpPr>
        <p:spPr>
          <a:xfrm>
            <a:off x="7434072" y="37033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63" name="Image 7" descr="/home/claude/icons/setting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0633" y="3799881"/>
            <a:ext cx="245791" cy="245791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6949440" y="4160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Monitoring</a:t>
            </a:r>
            <a:endParaRPr lang="en-US" sz="800" dirty="0"/>
          </a:p>
        </p:txBody>
      </p:sp>
      <p:sp>
        <p:nvSpPr>
          <p:cNvPr id="65" name="Text 55"/>
          <p:cNvSpPr txBox="1"/>
          <p:nvPr/>
        </p:nvSpPr>
        <p:spPr>
          <a:xfrm>
            <a:off x="6949440" y="450799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HQ-admin tools simplify verification and auditing.</a:t>
            </a:r>
            <a:endParaRPr lang="en-US" sz="680" dirty="0"/>
          </a:p>
        </p:txBody>
      </p:sp>
      <p:sp>
        <p:nvSpPr>
          <p:cNvPr id="66" name="Shape 56"/>
          <p:cNvSpPr/>
          <p:nvPr/>
        </p:nvSpPr>
        <p:spPr>
          <a:xfrm>
            <a:off x="8467344" y="359359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67" name="Shape 57"/>
          <p:cNvSpPr/>
          <p:nvPr/>
        </p:nvSpPr>
        <p:spPr>
          <a:xfrm>
            <a:off x="9006840" y="37033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68" name="Image 8" descr="/home/claude/icons/ser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3401" y="3799881"/>
            <a:ext cx="245791" cy="245791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8522208" y="4160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Solution</a:t>
            </a:r>
            <a:endParaRPr lang="en-US" sz="800" dirty="0"/>
          </a:p>
        </p:txBody>
      </p:sp>
      <p:sp>
        <p:nvSpPr>
          <p:cNvPr id="70" name="Text 59"/>
          <p:cNvSpPr txBox="1"/>
          <p:nvPr/>
        </p:nvSpPr>
        <p:spPr>
          <a:xfrm>
            <a:off x="8522208" y="450799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growth from small groups to thousands of users.</a:t>
            </a:r>
            <a:endParaRPr lang="en-US" sz="680" dirty="0"/>
          </a:p>
        </p:txBody>
      </p:sp>
      <p:sp>
        <p:nvSpPr>
          <p:cNvPr id="71" name="Shape 60"/>
          <p:cNvSpPr/>
          <p:nvPr/>
        </p:nvSpPr>
        <p:spPr>
          <a:xfrm>
            <a:off x="10040112" y="3593592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DCEFE1"/>
          </a:solidFill>
          <a:ln/>
        </p:spPr>
      </p:sp>
      <p:sp>
        <p:nvSpPr>
          <p:cNvPr id="72" name="Shape 61"/>
          <p:cNvSpPr/>
          <p:nvPr/>
        </p:nvSpPr>
        <p:spPr>
          <a:xfrm>
            <a:off x="10579608" y="37033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E5A"/>
          </a:solidFill>
          <a:ln/>
          <a:effectLst>
            <a:outerShdw sx="100000" sy="100000" kx="0" ky="0" algn="bl" rotWithShape="0" blurRad="76200" dist="25400" dir="5400000">
              <a:srgbClr val="1B3A6B">
                <a:alpha val="18000"/>
              </a:srgbClr>
            </a:outerShdw>
          </a:effectLst>
        </p:spPr>
      </p:sp>
      <p:pic>
        <p:nvPicPr>
          <p:cNvPr id="73" name="Image 9" descr="/home/claude/icons/doll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6169" y="3799881"/>
            <a:ext cx="245791" cy="245791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10094976" y="4160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Cost Value</a:t>
            </a:r>
            <a:endParaRPr lang="en-US" sz="800" dirty="0"/>
          </a:p>
        </p:txBody>
      </p:sp>
      <p:sp>
        <p:nvSpPr>
          <p:cNvPr id="75" name="Text 63"/>
          <p:cNvSpPr txBox="1"/>
          <p:nvPr/>
        </p:nvSpPr>
        <p:spPr>
          <a:xfrm>
            <a:off x="10094976" y="450799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setup cost ensures lasting security worth the investment.</a:t>
            </a:r>
            <a:endParaRPr lang="en-US" sz="680" dirty="0"/>
          </a:p>
        </p:txBody>
      </p:sp>
      <p:sp>
        <p:nvSpPr>
          <p:cNvPr id="76" name="Text 6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RAKSHA-SETU  |  SIH 2026  |  Team INNOVISION</a:t>
            </a:r>
            <a:endParaRPr lang="en-US" sz="800" dirty="0"/>
          </a:p>
        </p:txBody>
      </p:sp>
      <p:sp>
        <p:nvSpPr>
          <p:cNvPr id="77" name="Text 65"/>
          <p:cNvSpPr txBox="1"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&amp; 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Prototype and Research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D7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PROTOTYPE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148840" cy="4572000"/>
          </a:xfrm>
          <a:prstGeom prst="roundRect">
            <a:avLst>
              <a:gd name="adj" fmla="val 7660"/>
            </a:avLst>
          </a:prstGeom>
          <a:solidFill>
            <a:srgbClr val="13294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847088"/>
            <a:ext cx="2002536" cy="4187952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847088"/>
            <a:ext cx="2002536" cy="320040"/>
          </a:xfrm>
          <a:prstGeom prst="roundRect">
            <a:avLst>
              <a:gd name="adj" fmla="val 22857"/>
            </a:avLst>
          </a:prstGeom>
          <a:solidFill>
            <a:srgbClr val="1B3A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84708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Central Command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" y="2267712"/>
            <a:ext cx="1856232" cy="384048"/>
          </a:xfrm>
          <a:prstGeom prst="roundRect">
            <a:avLst>
              <a:gd name="adj" fmla="val 11905"/>
            </a:avLst>
          </a:prstGeom>
          <a:solidFill>
            <a:srgbClr val="F0F7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226771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Broadcast: Drill at 1800 hrs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94944" y="2724912"/>
            <a:ext cx="1856232" cy="384048"/>
          </a:xfrm>
          <a:prstGeom prst="roundRect">
            <a:avLst>
              <a:gd name="adj" fmla="val 11905"/>
            </a:avLst>
          </a:prstGeom>
          <a:solidFill>
            <a:srgbClr val="F0F7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" y="272491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Veterans' Support Group — Verified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94944" y="3182112"/>
            <a:ext cx="1856232" cy="384048"/>
          </a:xfrm>
          <a:prstGeom prst="roundRect">
            <a:avLst>
              <a:gd name="adj" fmla="val 11905"/>
            </a:avLst>
          </a:prstGeom>
          <a:solidFill>
            <a:srgbClr val="F0F7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18211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Secure Line — Video Active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880360" y="1645920"/>
            <a:ext cx="2148840" cy="4572000"/>
          </a:xfrm>
          <a:prstGeom prst="roundRect">
            <a:avLst>
              <a:gd name="adj" fmla="val 7660"/>
            </a:avLst>
          </a:prstGeom>
          <a:solidFill>
            <a:srgbClr val="13294B"/>
          </a:solidFill>
          <a:ln/>
        </p:spPr>
      </p:sp>
      <p:sp>
        <p:nvSpPr>
          <p:cNvPr id="19" name="Shape 17"/>
          <p:cNvSpPr/>
          <p:nvPr/>
        </p:nvSpPr>
        <p:spPr>
          <a:xfrm>
            <a:off x="2953512" y="1847088"/>
            <a:ext cx="2002536" cy="4187952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953512" y="1847088"/>
            <a:ext cx="2002536" cy="320040"/>
          </a:xfrm>
          <a:prstGeom prst="roundRect">
            <a:avLst>
              <a:gd name="adj" fmla="val 22857"/>
            </a:avLst>
          </a:prstGeom>
          <a:solidFill>
            <a:srgbClr val="1B3A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044952" y="184708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Alert Center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26664" y="2267712"/>
            <a:ext cx="1856232" cy="384048"/>
          </a:xfrm>
          <a:prstGeom prst="roundRect">
            <a:avLst>
              <a:gd name="adj" fmla="val 11905"/>
            </a:avLst>
          </a:prstGeom>
          <a:solidFill>
            <a:srgbClr val="F0F7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99816" y="226771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Drill Notification — High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3026664" y="2724912"/>
            <a:ext cx="1856232" cy="384048"/>
          </a:xfrm>
          <a:prstGeom prst="roundRect">
            <a:avLst>
              <a:gd name="adj" fmla="val 11905"/>
            </a:avLst>
          </a:prstGeom>
          <a:solidFill>
            <a:srgbClr val="F0F7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99816" y="272491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Protocol Update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3026664" y="3182112"/>
            <a:ext cx="1856232" cy="384048"/>
          </a:xfrm>
          <a:prstGeom prst="roundRect">
            <a:avLst>
              <a:gd name="adj" fmla="val 11905"/>
            </a:avLst>
          </a:prstGeom>
          <a:solidFill>
            <a:srgbClr val="F0F7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99816" y="318211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Maintenance Scheduled</a:t>
            </a:r>
            <a:endParaRPr lang="en-US" sz="68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263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Interface &amp; Alert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9240" y="1280160"/>
            <a:ext cx="0" cy="5120640"/>
          </a:xfrm>
          <a:prstGeom prst="line">
            <a:avLst/>
          </a:prstGeom>
          <a:noFill/>
          <a:ln w="12700">
            <a:solidFill>
              <a:srgbClr val="C9D8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1280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16459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Cryptographic Protocols for Secure Messaging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1938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the Signal Protocol used in Signal and WhatsApp, providing end-to-end encryption and forward secrecy.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245059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</a:t>
            </a:r>
            <a:pPr indent="0" marL="0">
              <a:buNone/>
            </a:pPr>
            <a:r>
              <a:rPr lang="en-US" sz="850" u="sng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signal.org/docs/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28163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VPN Security &amp; Performance Evaluation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31089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WireGuard, a modern VPN protocol with superior speed and simplicity vs IPsec/OpenVPN.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806440" y="36210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</a:t>
            </a:r>
            <a:pPr indent="0" marL="0">
              <a:buNone/>
            </a:pPr>
            <a:r>
              <a:rPr lang="en-US" sz="850" u="sng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wireguard.com/papers/wireguard.pdf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577840" y="39867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Mobile Security &amp; Data Leak Prevention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4279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major mobile app vulnerabilities and best practices for DLP and device-level protection.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806440" y="4791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</a:t>
            </a:r>
            <a:pPr indent="0" marL="0">
              <a:buNone/>
            </a:pPr>
            <a:r>
              <a:rPr lang="en-US" sz="850" u="sng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owasp.org/www-project-mobile-top-10/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577840" y="515721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Risks of Using Commercial Apps for Defence Comms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54498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commercial apps for defence communication risks data leaks due to weak encryption and controls.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806440" y="5961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</a:t>
            </a:r>
            <a:pPr indent="0" marL="0">
              <a:buNone/>
            </a:pPr>
            <a:r>
              <a:rPr lang="en-US" sz="850" u="sng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owasp.org/www-project-mobile-top-10/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RAKSHA-SETU  |  SIH 2026  |  Team INNOVISION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2026-08-26T10:59:31Z</dcterms:created>
  <dcterms:modified xsi:type="dcterms:W3CDTF">2026-08-26T10:59:31Z</dcterms:modified>
</cp:coreProperties>
</file>